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02: Ingeniería de Sistemas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de los sistemas · Los sistemas y su entorno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de sistemas · El proceso de Ingeniería de Sistemas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70916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 base: Pressman, Ingeniería del Software (6.ª ed.) · Sommerville, Ingeniería de Software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02 · Ingeniería de Sistemas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clase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002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468880" y="160020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de los sistemas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770632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70632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468880" y="2770632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sistemas y su entorno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3941064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941064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3941064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de sistemas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" y="5111496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111496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68880" y="5111496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Ingeniería de Sistemas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02 · Ingeniería de Sistemas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de los sistemas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sistema, sus elementos y las propiedades que lo caracterizan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· Propiedades de los sistemas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sistema?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1732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es un conjunto de elementos interrelacionados que trabajan juntos para lograr un objetivo común.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Ingeniería de Software, el sistema de interés suele ser un sistema basado en computadora.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de gestión hospitalaria no es solo el software: incluye al personal médico, el hardware de los equipos, las bases de datos de pacientes y los procedimientos administrativos, todos trabajando de forma coordinada.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Ingeniería del Software (6.ª ed.), Cap. 6 — Ingeniería de sistemas, pp. 104–133.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· Propiedades de los sistemas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de un sistema basado en computadora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0F6A6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89120" y="141732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3774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1691640"/>
            <a:ext cx="502920" cy="502920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3774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0F6A6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34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347472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7490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4434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38160" y="347472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3749040"/>
            <a:ext cx="502920" cy="502920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434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Ingeniería del Software (6.ª ed.), Cap. 6, pp. 104–133.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· Propiedades de los sistemas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generales de los sistemas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727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08483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sistema puede descomponerse en subsistemas, y estos a su vez en otros más simples.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5727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(fronteras)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537960" y="208483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Definen qué pertenece al sistema y qué queda fuera, en su entorno.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130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Interrelación de elementos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32511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componentes interactúan entre sí; el cambio en uno puede afectar a los demás.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8130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emergentes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37960" y="432511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como un todo exhibe cualidades que ninguno de sus elementos posee por separado.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6, pp. 104–133. Complemento: Sommerville, Cap. 10 — Sistemas sociotécnicos.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· Propiedades de los sistemas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sistemas y su entorno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Frontera, interacción, apertura al entorno y mecanismos de control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Los sistemas y su entorno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y frontera del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11680" y="1325880"/>
            <a:ext cx="81381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31750">
            <a:solidFill>
              <a:srgbClr val="44506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228600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51960" y="1920240"/>
            <a:ext cx="3657600" cy="2377440"/>
          </a:xfrm>
          <a:prstGeom prst="ellipse">
            <a:avLst/>
          </a:prstGeom>
          <a:solidFill>
            <a:srgbClr val="F2F4F8"/>
          </a:solidFill>
          <a:ln w="38100">
            <a:solidFill>
              <a:srgbClr val="0F6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19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5196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(frontera)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554480" cy="457200"/>
          </a:xfrm>
          <a:prstGeom prst="rightArrow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241280" y="2880360"/>
            <a:ext cx="1554480" cy="457200"/>
          </a:xfrm>
          <a:prstGeom prst="rightArrow">
            <a:avLst/>
          </a:prstGeom>
          <a:solidFill>
            <a:srgbClr val="9A4B0C"/>
          </a:solidFill>
          <a:ln/>
        </p:spPr>
      </p:sp>
      <p:sp>
        <p:nvSpPr>
          <p:cNvPr id="11" name="Text 9"/>
          <p:cNvSpPr/>
          <p:nvPr/>
        </p:nvSpPr>
        <p:spPr>
          <a:xfrm>
            <a:off x="1014984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4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entorno influye sobre el sistema (entradas) y recibe su efecto (salidas), sin dejar de ser externo a su frontera.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Los sistemas y su entorno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abiertos vs. sistemas cerrados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2540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cerrado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interactúa con su entorno; no recibe entradas externas ni depende de él para funcionar.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reloj mecánico aislado, que funciona por su propio mecanismo interno.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2F4F8"/>
          </a:solidFill>
          <a:ln w="31750">
            <a:solidFill>
              <a:srgbClr val="0F6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abierto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Interactúa constantemente con su entorno: recibe entradas, produce salidas y se adapta a los cambios externos.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33832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casi todo sistema de software real (recibe datos de usuarios, responde a otros sistemas, etc.)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Los sistemas y su entorno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Retroalimentación, control y restricciones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66544" y="1961388"/>
            <a:ext cx="274320" cy="237744"/>
          </a:xfrm>
          <a:prstGeom prst="rightArrow">
            <a:avLst/>
          </a:prstGeom>
          <a:solidFill>
            <a:srgbClr val="44506B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169164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1750">
            <a:solidFill>
              <a:srgbClr val="0F6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03904" y="1961388"/>
            <a:ext cx="274320" cy="237744"/>
          </a:xfrm>
          <a:prstGeom prst="rightArrow">
            <a:avLst/>
          </a:prstGeom>
          <a:solidFill>
            <a:srgbClr val="44506B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169164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1750">
            <a:solidFill>
              <a:srgbClr val="9A4B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4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25880" y="2606040"/>
            <a:ext cx="0" cy="502920"/>
          </a:xfrm>
          <a:prstGeom prst="line">
            <a:avLst/>
          </a:prstGeom>
          <a:noFill/>
          <a:ln w="25400">
            <a:solidFill>
              <a:srgbClr val="44506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325880" y="3108960"/>
            <a:ext cx="3474720" cy="0"/>
          </a:xfrm>
          <a:prstGeom prst="line">
            <a:avLst/>
          </a:prstGeom>
          <a:noFill/>
          <a:ln w="25400">
            <a:solidFill>
              <a:srgbClr val="44506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00600" y="2606040"/>
            <a:ext cx="0" cy="502920"/>
          </a:xfrm>
          <a:prstGeom prst="line">
            <a:avLst/>
          </a:prstGeom>
          <a:noFill/>
          <a:ln w="25400">
            <a:solidFill>
              <a:srgbClr val="44506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40080" y="31821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Retroalimentación (feedback)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ajusta su comportamiento comparando la salida real con la esperada, y corrigiendo el proceso en consecuencia.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externas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Organizacionales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internas, presupuesto y estructura del cliente.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Regulatorias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3794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Leyes, normas y estándares que el sistema debe cumplir.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Tecnológicas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4754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y herramientas disponibles en el entorno.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Los sistemas y su entorno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de sistemas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representar un sistema para comprenderlo, comunicarlo y construirlo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Modelado de sistemas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modelar un sistema?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554480"/>
          </a:xfrm>
          <a:prstGeom prst="roundRect">
            <a:avLst>
              <a:gd name="adj" fmla="val 3529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6304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es construir una abstracción del mundo real: una representación simplificada que resalta lo relevante y omite el detalle innecesario.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566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entender un sistema complejo antes de construirlo.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9120" y="333756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566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un lenguaje común entre analistas, clientes y desarrolladores.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38160" y="333756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566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6676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detectar errores u omisiones antes de invertir en implementación.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6, pp. 104–133. Complemento: Sommerville, Cap. 5 — Modelado del sistema.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Modelado de sistemas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de la Ingeniería de Sistemas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Pressman propone cuatro niveles de visión, de lo más general a lo más específico: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160020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67335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del mundo (worldview)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03911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contexto global: todos los sistemas y organizaciones que interactúan.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783080" y="265176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0F6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2724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del dominio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57400" y="30906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sector o área específica del negocio dentro de ese contexto.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423160" y="370332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 w="25400">
            <a:solidFill>
              <a:srgbClr val="9A4B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377647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del elemento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97480" y="41422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particular que se va a construir, dentro del dominio.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063240" y="4754880"/>
            <a:ext cx="6035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48280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detallada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37560" y="51937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componentes internos del sistema: software, hardware, datos, etc.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6, pp. 104–133.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Modelado de sistemas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estructural vs. vista de comportamiento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estructural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cómo están organizados los elementos del sistema y cómo se relacionan entre sí (la arquitectura).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Ejemplos: diagrama de bloques, diagrama de clases.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2F4F8"/>
          </a:solidFill>
          <a:ln w="31750">
            <a:solidFill>
              <a:srgbClr val="0F6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 comportamiento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cómo el sistema responde a eventos y cómo cambia su estado a lo largo del tiempo (el proceso).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3657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Ejemplos: diagrama de flujo de datos, diagrama de actividad.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Modelado de sistemas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Notaciones para el modelado de sistemas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diagrama de contexto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2377440"/>
            <a:ext cx="15544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450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2377440"/>
            <a:ext cx="15544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45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3566160"/>
            <a:ext cx="201168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6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35661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60320" y="2743200"/>
            <a:ext cx="-365760" cy="1463040"/>
          </a:xfrm>
          <a:prstGeom prst="line">
            <a:avLst/>
          </a:prstGeom>
          <a:noFill/>
          <a:ln w="25400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4206240"/>
            <a:ext cx="-365760" cy="-1463040"/>
          </a:xfrm>
          <a:prstGeom prst="line">
            <a:avLst/>
          </a:prstGeom>
          <a:noFill/>
          <a:ln w="25400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0350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contexto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184708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el sistema como una caja única y sus interacciones con entidades externas.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0350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(DFD)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312724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 cómo se mueven y transforman los datos dentro del sistema.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0350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bloques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35040" y="440740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 los componentes principales del sistema y sus conexiones.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6, pp. 104–133.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Modelado de sistemas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de sistemas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737360"/>
          </a:xfrm>
          <a:prstGeom prst="roundRect">
            <a:avLst>
              <a:gd name="adj" fmla="val 3158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 modelo estático no alcanza para comprender el comportamiento del sistema, se recurre a la simulación: ejecutar un modelo dinámico para observar cómo se comportaría el sistema real bajo distintas condiciones.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es útil?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4142232"/>
            <a:ext cx="128016" cy="128016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977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construir o probar el sistema real es costoso o riesgoso.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4672584"/>
            <a:ext cx="128016" cy="128016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5079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se necesita anticipar el comportamiento ante escenarios extremos.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5202936"/>
            <a:ext cx="128016" cy="128016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0383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intervienen múltiples variables difíciles de analizar manualmente.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6, pp. 104–133.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Modelado de sistemas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Ingeniería de Sistemas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organiza el trabajo de analizar, diseñar y especificar un sistema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El proceso de Ingeniería de Sistemas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procesos de negocio vs. de producto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procesos de negocio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y define cómo opera la organización como un todo: sus procesos, información y estructura, antes de pensar en un sistema en particular.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Nivel: organización completa.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2F4F8"/>
          </a:solidFill>
          <a:ln w="31750">
            <a:solidFill>
              <a:srgbClr val="0F6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373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producto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enfoca en un sistema o producto específico: sus requisitos, restricciones y elementos concretos a construir.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4114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Nivel: un sistema particular.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6, pp. 104–133.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El proceso de Ingeniería de Sistemas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Ingeniería de Sistemas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184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necesidades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154680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31750">
            <a:solidFill>
              <a:srgbClr val="0F6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184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2103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943600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31750">
            <a:solidFill>
              <a:srgbClr val="9A4B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184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55080" y="2103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de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732520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06840" y="15087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6184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0" y="2103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sistema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10881360" cy="2286000"/>
          </a:xfrm>
          <a:prstGeom prst="roundRect">
            <a:avLst>
              <a:gd name="adj" fmla="val 24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11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del ingeniero de sistemas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406908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quien tiene la visión global: comprende el sistema completo (no solo el software), coordina entre las distintas disciplinas involucradas (hardware, personas, procesos) y traduce las necesidades del negocio en especificaciones técnicas concretas.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6, pp. 104–133.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El proceso de Ingeniería de Sistemas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bibliográficas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Pressman, Roger 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del Software: Un Enfoque Práctico (6.ª edición)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6 — "Ingeniería de sistemas", pp. 104–133. Fuente principal de esta unidad.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8813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49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Sommerville, Ian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5 — "Modelado del sistema" y Capítulo 10 — "Sistemas sociotécnicos" (numeración de la 9.ª ed.; puede variar según la edición disponible). Lectura complementaria, especialmente para entorno y modelado.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El proceso de Ingeniería de Sistemas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resumen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construir software, hay que entender el sistema completo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que ese software va a vivir.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182112"/>
            <a:ext cx="146304" cy="146304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9923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sistema tiene propiedades (jerarquía, límites, interrelación, emergencia) y un entorno con el que interactúa.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959352"/>
            <a:ext cx="146304" cy="146304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7764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es abstraer la realidad para comprenderla, comunicarla y validarla antes de construir.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736592"/>
            <a:ext cx="146304" cy="146304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55371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Ingeniería de Sistemas ubica al software dentro de un proceso más amplio, con una visión que va del negocio al detalle técnico.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paso: ejercitario de la Unidad 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02 · Ingeniería de Sistemas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2026-08-26T01:00:49Z</dcterms:created>
  <dcterms:modified xsi:type="dcterms:W3CDTF">2026-08-26T01:00:49Z</dcterms:modified>
</cp:coreProperties>
</file>